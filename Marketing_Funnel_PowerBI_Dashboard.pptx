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7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3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Visitors</c:v>
                  </c:pt>
                  <c:pt idx="1">
                    <c:v>Leads</c:v>
                  </c:pt>
                  <c:pt idx="2">
                    <c:v>MQLs</c:v>
                  </c:pt>
                  <c:pt idx="3">
                    <c:v>SQLs</c:v>
                  </c:pt>
                  <c:pt idx="4">
                    <c:v>Opportunities</c:v>
                  </c:pt>
                  <c:pt idx="5">
                    <c:v>Customers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124500</c:v>
                </c:pt>
                <c:pt idx="1">
                  <c:v>6842</c:v>
                </c:pt>
                <c:pt idx="2">
                  <c:v>1710</c:v>
                </c:pt>
                <c:pt idx="3">
                  <c:v>684</c:v>
                </c:pt>
                <c:pt idx="4">
                  <c:v>342</c:v>
                </c:pt>
                <c:pt idx="5">
                  <c:v>114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Organic SEO</c:v>
                  </c:pt>
                  <c:pt idx="1">
                    <c:v>Email</c:v>
                  </c:pt>
                  <c:pt idx="2">
                    <c:v>Referral</c:v>
                  </c:pt>
                  <c:pt idx="3">
                    <c:v>Paid Search</c:v>
                  </c:pt>
                  <c:pt idx="4">
                    <c:v>Direct</c:v>
                  </c:pt>
                  <c:pt idx="5">
                    <c:v>Social Paid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2340</c:v>
                </c:pt>
                <c:pt idx="1">
                  <c:v>980</c:v>
                </c:pt>
                <c:pt idx="2">
                  <c:v>310</c:v>
                </c:pt>
                <c:pt idx="3">
                  <c:v>1820</c:v>
                </c:pt>
                <c:pt idx="4">
                  <c:v>152</c:v>
                </c:pt>
                <c:pt idx="5">
                  <c:v>1240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Organic SEO</c:v>
                  </c:pt>
                  <c:pt idx="1">
                    <c:v>Email</c:v>
                  </c:pt>
                  <c:pt idx="2">
                    <c:v>Referral</c:v>
                  </c:pt>
                  <c:pt idx="3">
                    <c:v>Paid Search</c:v>
                  </c:pt>
                  <c:pt idx="4">
                    <c:v>Direct</c:v>
                  </c:pt>
                  <c:pt idx="5">
                    <c:v>Social Paid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</c:v>
                </c:pt>
                <c:pt idx="1">
                  <c:v>11.2</c:v>
                </c:pt>
                <c:pt idx="2">
                  <c:v>14.3</c:v>
                </c:pt>
                <c:pt idx="3">
                  <c:v>5.1</c:v>
                </c:pt>
                <c:pt idx="4">
                  <c:v>6.7</c:v>
                </c:pt>
                <c:pt idx="5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 → Lead %</c:v>
                </c:pt>
              </c:strCache>
            </c:strRef>
          </c:tx>
          <c:spPr>
            <a:solidFill>
              <a:srgbClr val="1976D2"/>
            </a:solidFill>
            <a:ln w="31750" cap="flat">
              <a:solidFill>
                <a:srgbClr val="1976D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6D2"/>
              </a:solidFill>
              <a:ln w="9525" cap="flat">
                <a:solidFill>
                  <a:srgbClr val="1976D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4.8</c:v>
                </c:pt>
                <c:pt idx="1">
                  <c:v>6.1</c:v>
                </c:pt>
                <c:pt idx="2">
                  <c:v>5.2</c:v>
                </c:pt>
                <c:pt idx="3">
                  <c:v>5.5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 (7%)</c:v>
                </c:pt>
              </c:strCache>
            </c:strRef>
          </c:tx>
          <c:spPr>
            <a:solidFill>
              <a:srgbClr val="E0E0E0"/>
            </a:solidFill>
            <a:ln w="31750" cap="flat">
              <a:solidFill>
                <a:srgbClr val="E0E0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E0E0"/>
              </a:solidFill>
              <a:ln w="9525" cap="flat">
                <a:solidFill>
                  <a:srgbClr val="E0E0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→ Cust %</c:v>
                </c:pt>
              </c:strCache>
            </c:strRef>
          </c:tx>
          <c:spPr>
            <a:solidFill>
              <a:srgbClr val="00838F"/>
            </a:solidFill>
            <a:ln w="31750" cap="flat">
              <a:solidFill>
                <a:srgbClr val="0083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38F"/>
              </a:solidFill>
              <a:ln w="9525" cap="flat">
                <a:solidFill>
                  <a:srgbClr val="0083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</c:v>
                </c:pt>
                <c:pt idx="1">
                  <c:v>1.5</c:v>
                </c:pt>
                <c:pt idx="2">
                  <c:v>1.9</c:v>
                </c:pt>
                <c:pt idx="3">
                  <c:v>1.7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5029200" cy="6858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FUNNEL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CONVERSION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9A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DASHBOARD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411480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Analysis  | 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 &amp; Growth Division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743200" cy="13716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1463040"/>
            <a:ext cx="274320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124,500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943600" y="2304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61120" y="1463040"/>
            <a:ext cx="2743200" cy="13716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0" y="1463040"/>
            <a:ext cx="2743200" cy="6400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6,842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961120" y="2304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Generated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3291840"/>
            <a:ext cx="2743200" cy="13716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3291840"/>
            <a:ext cx="2743200" cy="64008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5.49%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943600" y="4133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→ Lead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61120" y="3291840"/>
            <a:ext cx="2743200" cy="13716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0" y="3291840"/>
            <a:ext cx="2743200" cy="6400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961120" y="4133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64922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146304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828800" cy="548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50976"/>
            <a:ext cx="54864" cy="548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" y="100584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" y="166420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Funnel Stages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" y="232257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Channels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" y="2980944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Trends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36393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30-Day Report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0" y="0"/>
            <a:ext cx="10332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96596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91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Funnel &amp; Conversion Performance  |  Apr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594360"/>
            <a:ext cx="10332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731520"/>
            <a:ext cx="190195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20240" y="731520"/>
            <a:ext cx="54864" cy="111556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9" name="Text 17"/>
          <p:cNvSpPr/>
          <p:nvPr/>
        </p:nvSpPr>
        <p:spPr>
          <a:xfrm>
            <a:off x="2048256" y="8412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48256" y="1078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124,500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048256" y="15179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+8.2% vs prior period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31920" y="731520"/>
            <a:ext cx="190195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31920" y="731520"/>
            <a:ext cx="54864" cy="1115568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4" name="Text 22"/>
          <p:cNvSpPr/>
          <p:nvPr/>
        </p:nvSpPr>
        <p:spPr>
          <a:xfrm>
            <a:off x="4059936" y="8412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Generated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59936" y="1078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6,842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059936" y="15179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+12.4% vs prior period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731520"/>
            <a:ext cx="190195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731520"/>
            <a:ext cx="54864" cy="111556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9" name="Text 27"/>
          <p:cNvSpPr/>
          <p:nvPr/>
        </p:nvSpPr>
        <p:spPr>
          <a:xfrm>
            <a:off x="6071616" y="8412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71616" y="1078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1,710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71616" y="15179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+3.1% vs prior period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955280" y="731520"/>
            <a:ext cx="190195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55280" y="731520"/>
            <a:ext cx="54864" cy="11155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4" name="Text 32"/>
          <p:cNvSpPr/>
          <p:nvPr/>
        </p:nvSpPr>
        <p:spPr>
          <a:xfrm>
            <a:off x="8083296" y="8412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83296" y="1078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083296" y="15179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-2.3% vs prior period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66960" y="731520"/>
            <a:ext cx="190195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966960" y="731520"/>
            <a:ext cx="54864" cy="11155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9" name="Text 37"/>
          <p:cNvSpPr/>
          <p:nvPr/>
        </p:nvSpPr>
        <p:spPr>
          <a:xfrm>
            <a:off x="10094976" y="8412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Conv. 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94976" y="1078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0.09%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0094976" y="15179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-0.01pp vs prior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20240" y="2011680"/>
            <a:ext cx="5943600" cy="4526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084832" y="2121408"/>
            <a:ext cx="5614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Funnel — Stage Volume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84832" y="2395728"/>
            <a:ext cx="56144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45" name="Chart 0" descr=""/>
          <p:cNvGraphicFramePr/>
          <p:nvPr/>
        </p:nvGraphicFramePr>
        <p:xfrm>
          <a:off x="1938528" y="2331720"/>
          <a:ext cx="5907024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Shape 43"/>
          <p:cNvSpPr/>
          <p:nvPr/>
        </p:nvSpPr>
        <p:spPr>
          <a:xfrm>
            <a:off x="8001000" y="201168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8165592" y="2121408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Conversion Rates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165592" y="2395728"/>
            <a:ext cx="36941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156448" y="2377440"/>
            <a:ext cx="1737360" cy="69494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0" name="Shape 47"/>
          <p:cNvSpPr/>
          <p:nvPr/>
        </p:nvSpPr>
        <p:spPr>
          <a:xfrm>
            <a:off x="8156448" y="2377440"/>
            <a:ext cx="1737360" cy="6400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1" name="Text 48"/>
          <p:cNvSpPr/>
          <p:nvPr/>
        </p:nvSpPr>
        <p:spPr>
          <a:xfrm>
            <a:off x="8156448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5.49%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8156448" y="27980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→ Lead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10076688" y="2377440"/>
            <a:ext cx="1737360" cy="69494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4" name="Shape 51"/>
          <p:cNvSpPr/>
          <p:nvPr/>
        </p:nvSpPr>
        <p:spPr>
          <a:xfrm>
            <a:off x="10076688" y="2377440"/>
            <a:ext cx="1737360" cy="64008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55" name="Text 52"/>
          <p:cNvSpPr/>
          <p:nvPr/>
        </p:nvSpPr>
        <p:spPr>
          <a:xfrm>
            <a:off x="10076688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24.99%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0076688" y="27980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MQL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8156448" y="3236976"/>
            <a:ext cx="1737360" cy="69494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8" name="Shape 55"/>
          <p:cNvSpPr/>
          <p:nvPr/>
        </p:nvSpPr>
        <p:spPr>
          <a:xfrm>
            <a:off x="8156448" y="3236976"/>
            <a:ext cx="1737360" cy="6400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59" name="Text 56"/>
          <p:cNvSpPr/>
          <p:nvPr/>
        </p:nvSpPr>
        <p:spPr>
          <a:xfrm>
            <a:off x="8156448" y="332841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39.98%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8156448" y="36576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 → SQL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10076688" y="3236976"/>
            <a:ext cx="1737360" cy="69494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2" name="Shape 59"/>
          <p:cNvSpPr/>
          <p:nvPr/>
        </p:nvSpPr>
        <p:spPr>
          <a:xfrm>
            <a:off x="10076688" y="3236976"/>
            <a:ext cx="1737360" cy="640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3" name="Text 60"/>
          <p:cNvSpPr/>
          <p:nvPr/>
        </p:nvSpPr>
        <p:spPr>
          <a:xfrm>
            <a:off x="10076688" y="332841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33.33%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10076688" y="36576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Customer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8001000" y="4224528"/>
            <a:ext cx="4023360" cy="2313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Text 63"/>
          <p:cNvSpPr/>
          <p:nvPr/>
        </p:nvSpPr>
        <p:spPr>
          <a:xfrm>
            <a:off x="8165592" y="4334256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Drop-off Points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8165592" y="4608576"/>
            <a:ext cx="36941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156448" y="46268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→ Leads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10716768" y="4690872"/>
            <a:ext cx="1097280" cy="23774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0" name="Text 67"/>
          <p:cNvSpPr/>
          <p:nvPr/>
        </p:nvSpPr>
        <p:spPr>
          <a:xfrm>
            <a:off x="10716768" y="46908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94.51%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8156448" y="5084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→ MQLs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0716768" y="5148072"/>
            <a:ext cx="1097280" cy="23774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3" name="Text 70"/>
          <p:cNvSpPr/>
          <p:nvPr/>
        </p:nvSpPr>
        <p:spPr>
          <a:xfrm>
            <a:off x="10716768" y="51480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75.01%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156448" y="55412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MQLs → SQLs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10716768" y="5605272"/>
            <a:ext cx="1097280" cy="23774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6" name="Text 73"/>
          <p:cNvSpPr/>
          <p:nvPr/>
        </p:nvSpPr>
        <p:spPr>
          <a:xfrm>
            <a:off x="10716768" y="56052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60.02%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8156448" y="59984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 → Customers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10716768" y="6062472"/>
            <a:ext cx="1097280" cy="23774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9" name="Text 76"/>
          <p:cNvSpPr/>
          <p:nvPr/>
        </p:nvSpPr>
        <p:spPr>
          <a:xfrm>
            <a:off x="10716768" y="60624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66.67%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146304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00584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Overview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609344"/>
            <a:ext cx="1828800" cy="548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609344"/>
            <a:ext cx="54864" cy="548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" y="166420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Funnel Stages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" y="232257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Channels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" y="2980944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Trends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36393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30-Day Report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0" y="0"/>
            <a:ext cx="10332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96596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Funnel Stages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91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Funnel &amp; Conversion Performance  |  Apr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594360"/>
            <a:ext cx="10332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731520"/>
            <a:ext cx="8046720" cy="5943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84832" y="841248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Funnel Stage Analysis — Volume &amp; Conversion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84832" y="1115568"/>
            <a:ext cx="771753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13990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93008" y="1325880"/>
            <a:ext cx="71323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2" name="Shape 20"/>
          <p:cNvSpPr/>
          <p:nvPr/>
        </p:nvSpPr>
        <p:spPr>
          <a:xfrm>
            <a:off x="3493008" y="1325880"/>
            <a:ext cx="7132320" cy="5029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2" y="1362456"/>
            <a:ext cx="7022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124,500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1399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216712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93008" y="2093976"/>
            <a:ext cx="71323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7" name="Shape 25"/>
          <p:cNvSpPr/>
          <p:nvPr/>
        </p:nvSpPr>
        <p:spPr>
          <a:xfrm>
            <a:off x="3493008" y="2093976"/>
            <a:ext cx="457200" cy="50292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21305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6,842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16768" y="21671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Conv: 5.49%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293522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93008" y="2862072"/>
            <a:ext cx="71323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2" name="Shape 30"/>
          <p:cNvSpPr/>
          <p:nvPr/>
        </p:nvSpPr>
        <p:spPr>
          <a:xfrm>
            <a:off x="3493008" y="2862072"/>
            <a:ext cx="457200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0" y="28986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1,710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16768" y="29352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Conv: 24.99%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37033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93008" y="3630168"/>
            <a:ext cx="71323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7" name="Shape 35"/>
          <p:cNvSpPr/>
          <p:nvPr/>
        </p:nvSpPr>
        <p:spPr>
          <a:xfrm>
            <a:off x="3493008" y="3630168"/>
            <a:ext cx="457200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360" y="366674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16768" y="3703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Conv: 39.98%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1680" y="44714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93008" y="4398264"/>
            <a:ext cx="71323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2" name="Shape 40"/>
          <p:cNvSpPr/>
          <p:nvPr/>
        </p:nvSpPr>
        <p:spPr>
          <a:xfrm>
            <a:off x="3493008" y="4398264"/>
            <a:ext cx="45720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3" name="Text 41"/>
          <p:cNvSpPr/>
          <p:nvPr/>
        </p:nvSpPr>
        <p:spPr>
          <a:xfrm>
            <a:off x="4023360" y="44348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716768" y="44714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Conv: 50.00%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011680" y="52395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93008" y="5166360"/>
            <a:ext cx="71323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7" name="Shape 45"/>
          <p:cNvSpPr/>
          <p:nvPr/>
        </p:nvSpPr>
        <p:spPr>
          <a:xfrm>
            <a:off x="3493008" y="5166360"/>
            <a:ext cx="4572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8" name="Text 46"/>
          <p:cNvSpPr/>
          <p:nvPr/>
        </p:nvSpPr>
        <p:spPr>
          <a:xfrm>
            <a:off x="4023360" y="52029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716768" y="52395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Conv: 33.33%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149840" y="731520"/>
            <a:ext cx="1920240" cy="5943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0314432" y="841248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314432" y="1115568"/>
            <a:ext cx="15910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49840" y="7863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168128" y="1325880"/>
            <a:ext cx="1883664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5" name="Text 53"/>
          <p:cNvSpPr/>
          <p:nvPr/>
        </p:nvSpPr>
        <p:spPr>
          <a:xfrm>
            <a:off x="10168128" y="139903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168128" y="2093976"/>
            <a:ext cx="1883664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0168128" y="216712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5.49%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0168128" y="2862072"/>
            <a:ext cx="1883664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9" name="Text 57"/>
          <p:cNvSpPr/>
          <p:nvPr/>
        </p:nvSpPr>
        <p:spPr>
          <a:xfrm>
            <a:off x="10168128" y="293522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24.99%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10168128" y="3630168"/>
            <a:ext cx="1883664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0168128" y="370332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39.98%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10168128" y="4398264"/>
            <a:ext cx="1883664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3" name="Text 61"/>
          <p:cNvSpPr/>
          <p:nvPr/>
        </p:nvSpPr>
        <p:spPr>
          <a:xfrm>
            <a:off x="10168128" y="4471416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50.00%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0168128" y="5166360"/>
            <a:ext cx="1883664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0168128" y="523951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33.33%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1920240" y="6309360"/>
            <a:ext cx="804672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67" name="Shape 65"/>
          <p:cNvSpPr/>
          <p:nvPr/>
        </p:nvSpPr>
        <p:spPr>
          <a:xfrm>
            <a:off x="1920240" y="6309360"/>
            <a:ext cx="54864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8" name="Text 66"/>
          <p:cNvSpPr/>
          <p:nvPr/>
        </p:nvSpPr>
        <p:spPr>
          <a:xfrm>
            <a:off x="2011680" y="633679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Largest drop-off: Visitors → Leads (94.5% lost). Closing this gap to industry benchmark (7–10%) adds ~1,800+ leads/month at current traffic.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146304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00584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" y="166420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Funnel Stages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267712"/>
            <a:ext cx="1828800" cy="548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67712"/>
            <a:ext cx="54864" cy="548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232257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Channels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" y="2980944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Trends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36393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30-Day Report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0" y="0"/>
            <a:ext cx="10332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96596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91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Funnel &amp; Conversion Performance  |  Apr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594360"/>
            <a:ext cx="10332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73152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84832" y="841248"/>
            <a:ext cx="4700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Volume by Channel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84832" y="1115568"/>
            <a:ext cx="47000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1938528" y="1024128"/>
          <a:ext cx="4992624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7086600" y="731520"/>
            <a:ext cx="4983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51192" y="841248"/>
            <a:ext cx="4654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→ Customer Conversion Rate 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251192" y="1115568"/>
            <a:ext cx="46542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24" name="Chart 1" descr=""/>
          <p:cNvGraphicFramePr/>
          <p:nvPr/>
        </p:nvGraphicFramePr>
        <p:xfrm>
          <a:off x="7104888" y="1024128"/>
          <a:ext cx="4946904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1920240" y="4069080"/>
            <a:ext cx="101498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2084832" y="4178808"/>
            <a:ext cx="9820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Scorecard — Lead Quality &amp; Priority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084832" y="4453128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011680" y="4434840"/>
            <a:ext cx="201168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9" name="Text 25"/>
          <p:cNvSpPr/>
          <p:nvPr/>
        </p:nvSpPr>
        <p:spPr>
          <a:xfrm>
            <a:off x="2011680" y="44531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023360" y="4434840"/>
            <a:ext cx="118872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1" name="Text 27"/>
          <p:cNvSpPr/>
          <p:nvPr/>
        </p:nvSpPr>
        <p:spPr>
          <a:xfrm>
            <a:off x="4023360" y="4453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212080" y="4434840"/>
            <a:ext cx="128016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3" name="Text 29"/>
          <p:cNvSpPr/>
          <p:nvPr/>
        </p:nvSpPr>
        <p:spPr>
          <a:xfrm>
            <a:off x="5212080" y="44531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6492240" y="4434840"/>
            <a:ext cx="118872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5" name="Text 31"/>
          <p:cNvSpPr/>
          <p:nvPr/>
        </p:nvSpPr>
        <p:spPr>
          <a:xfrm>
            <a:off x="6492240" y="4453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7680960" y="4434840"/>
            <a:ext cx="237744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7" name="Text 33"/>
          <p:cNvSpPr/>
          <p:nvPr/>
        </p:nvSpPr>
        <p:spPr>
          <a:xfrm>
            <a:off x="7680960" y="44531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10058400" y="4434840"/>
            <a:ext cx="201168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9" name="Text 35"/>
          <p:cNvSpPr/>
          <p:nvPr/>
        </p:nvSpPr>
        <p:spPr>
          <a:xfrm>
            <a:off x="10058400" y="44531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2011680" y="4727448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7"/>
          <p:cNvSpPr/>
          <p:nvPr/>
        </p:nvSpPr>
        <p:spPr>
          <a:xfrm>
            <a:off x="2057400" y="47823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SEO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4023360" y="4727448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39"/>
          <p:cNvSpPr/>
          <p:nvPr/>
        </p:nvSpPr>
        <p:spPr>
          <a:xfrm>
            <a:off x="4069080" y="47823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2,340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5212080" y="4727448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1"/>
          <p:cNvSpPr/>
          <p:nvPr/>
        </p:nvSpPr>
        <p:spPr>
          <a:xfrm>
            <a:off x="5257800" y="47823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6492240" y="4727448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3"/>
          <p:cNvSpPr/>
          <p:nvPr/>
        </p:nvSpPr>
        <p:spPr>
          <a:xfrm>
            <a:off x="6537960" y="47823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87/100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7680960" y="4727448"/>
            <a:ext cx="237744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9" name="Text 45"/>
          <p:cNvSpPr/>
          <p:nvPr/>
        </p:nvSpPr>
        <p:spPr>
          <a:xfrm>
            <a:off x="7726680" y="47823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10058400" y="4727448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7"/>
          <p:cNvSpPr/>
          <p:nvPr/>
        </p:nvSpPr>
        <p:spPr>
          <a:xfrm>
            <a:off x="10104120" y="47823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content production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2011680" y="5056632"/>
            <a:ext cx="201168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3" name="Text 49"/>
          <p:cNvSpPr/>
          <p:nvPr/>
        </p:nvSpPr>
        <p:spPr>
          <a:xfrm>
            <a:off x="2057400" y="51114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4023360" y="5056632"/>
            <a:ext cx="118872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5" name="Text 51"/>
          <p:cNvSpPr/>
          <p:nvPr/>
        </p:nvSpPr>
        <p:spPr>
          <a:xfrm>
            <a:off x="4069080" y="51114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5212080" y="5056632"/>
            <a:ext cx="128016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7" name="Text 53"/>
          <p:cNvSpPr/>
          <p:nvPr/>
        </p:nvSpPr>
        <p:spPr>
          <a:xfrm>
            <a:off x="5257800" y="51114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6492240" y="5056632"/>
            <a:ext cx="118872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9" name="Text 55"/>
          <p:cNvSpPr/>
          <p:nvPr/>
        </p:nvSpPr>
        <p:spPr>
          <a:xfrm>
            <a:off x="6537960" y="51114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93/100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7680960" y="5056632"/>
            <a:ext cx="237744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1" name="Text 57"/>
          <p:cNvSpPr/>
          <p:nvPr/>
        </p:nvSpPr>
        <p:spPr>
          <a:xfrm>
            <a:off x="7726680" y="511149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10058400" y="5056632"/>
            <a:ext cx="201168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3" name="Text 59"/>
          <p:cNvSpPr/>
          <p:nvPr/>
        </p:nvSpPr>
        <p:spPr>
          <a:xfrm>
            <a:off x="10104120" y="51114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nurture sequences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2011680" y="5385816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1"/>
          <p:cNvSpPr/>
          <p:nvPr/>
        </p:nvSpPr>
        <p:spPr>
          <a:xfrm>
            <a:off x="2057400" y="54406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4023360" y="5385816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3"/>
          <p:cNvSpPr/>
          <p:nvPr/>
        </p:nvSpPr>
        <p:spPr>
          <a:xfrm>
            <a:off x="4069080" y="544068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850" dirty="0"/>
          </a:p>
        </p:txBody>
      </p:sp>
      <p:sp>
        <p:nvSpPr>
          <p:cNvPr id="68" name="Shape 64"/>
          <p:cNvSpPr/>
          <p:nvPr/>
        </p:nvSpPr>
        <p:spPr>
          <a:xfrm>
            <a:off x="5212080" y="5385816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5"/>
          <p:cNvSpPr/>
          <p:nvPr/>
        </p:nvSpPr>
        <p:spPr>
          <a:xfrm>
            <a:off x="5257800" y="544068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850" dirty="0"/>
          </a:p>
        </p:txBody>
      </p:sp>
      <p:sp>
        <p:nvSpPr>
          <p:cNvPr id="70" name="Shape 66"/>
          <p:cNvSpPr/>
          <p:nvPr/>
        </p:nvSpPr>
        <p:spPr>
          <a:xfrm>
            <a:off x="6492240" y="5385816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7"/>
          <p:cNvSpPr/>
          <p:nvPr/>
        </p:nvSpPr>
        <p:spPr>
          <a:xfrm>
            <a:off x="6537960" y="544068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96/100</a:t>
            </a:r>
            <a:endParaRPr lang="en-US" sz="850" dirty="0"/>
          </a:p>
        </p:txBody>
      </p:sp>
      <p:sp>
        <p:nvSpPr>
          <p:cNvPr id="72" name="Shape 68"/>
          <p:cNvSpPr/>
          <p:nvPr/>
        </p:nvSpPr>
        <p:spPr>
          <a:xfrm>
            <a:off x="7680960" y="5385816"/>
            <a:ext cx="237744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3" name="Text 69"/>
          <p:cNvSpPr/>
          <p:nvPr/>
        </p:nvSpPr>
        <p:spPr>
          <a:xfrm>
            <a:off x="7726680" y="54406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4" name="Shape 70"/>
          <p:cNvSpPr/>
          <p:nvPr/>
        </p:nvSpPr>
        <p:spPr>
          <a:xfrm>
            <a:off x="10058400" y="5385816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1"/>
          <p:cNvSpPr/>
          <p:nvPr/>
        </p:nvSpPr>
        <p:spPr>
          <a:xfrm>
            <a:off x="10104120" y="54406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referral program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2011680" y="5715000"/>
            <a:ext cx="201168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7" name="Text 73"/>
          <p:cNvSpPr/>
          <p:nvPr/>
        </p:nvSpPr>
        <p:spPr>
          <a:xfrm>
            <a:off x="2057400" y="57698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4023360" y="5715000"/>
            <a:ext cx="118872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9" name="Text 75"/>
          <p:cNvSpPr/>
          <p:nvPr/>
        </p:nvSpPr>
        <p:spPr>
          <a:xfrm>
            <a:off x="4069080" y="576986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1,820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5212080" y="5715000"/>
            <a:ext cx="128016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1" name="Text 77"/>
          <p:cNvSpPr/>
          <p:nvPr/>
        </p:nvSpPr>
        <p:spPr>
          <a:xfrm>
            <a:off x="5257800" y="57698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850" dirty="0"/>
          </a:p>
        </p:txBody>
      </p:sp>
      <p:sp>
        <p:nvSpPr>
          <p:cNvPr id="82" name="Shape 78"/>
          <p:cNvSpPr/>
          <p:nvPr/>
        </p:nvSpPr>
        <p:spPr>
          <a:xfrm>
            <a:off x="6492240" y="5715000"/>
            <a:ext cx="118872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3" name="Text 79"/>
          <p:cNvSpPr/>
          <p:nvPr/>
        </p:nvSpPr>
        <p:spPr>
          <a:xfrm>
            <a:off x="6537960" y="576986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71/100</a:t>
            </a:r>
            <a:endParaRPr lang="en-US" sz="850" dirty="0"/>
          </a:p>
        </p:txBody>
      </p:sp>
      <p:sp>
        <p:nvSpPr>
          <p:cNvPr id="84" name="Shape 80"/>
          <p:cNvSpPr/>
          <p:nvPr/>
        </p:nvSpPr>
        <p:spPr>
          <a:xfrm>
            <a:off x="7680960" y="5715000"/>
            <a:ext cx="2377440" cy="310896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5" name="Text 81"/>
          <p:cNvSpPr/>
          <p:nvPr/>
        </p:nvSpPr>
        <p:spPr>
          <a:xfrm>
            <a:off x="7726680" y="57698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86" name="Shape 82"/>
          <p:cNvSpPr/>
          <p:nvPr/>
        </p:nvSpPr>
        <p:spPr>
          <a:xfrm>
            <a:off x="10058400" y="5715000"/>
            <a:ext cx="201168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7" name="Text 83"/>
          <p:cNvSpPr/>
          <p:nvPr/>
        </p:nvSpPr>
        <p:spPr>
          <a:xfrm>
            <a:off x="10104120" y="57698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keyword targeting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2011680" y="6044184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5"/>
          <p:cNvSpPr/>
          <p:nvPr/>
        </p:nvSpPr>
        <p:spPr>
          <a:xfrm>
            <a:off x="2057400" y="60990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4023360" y="6044184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7"/>
          <p:cNvSpPr/>
          <p:nvPr/>
        </p:nvSpPr>
        <p:spPr>
          <a:xfrm>
            <a:off x="4069080" y="60990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850" dirty="0"/>
          </a:p>
        </p:txBody>
      </p:sp>
      <p:sp>
        <p:nvSpPr>
          <p:cNvPr id="92" name="Shape 88"/>
          <p:cNvSpPr/>
          <p:nvPr/>
        </p:nvSpPr>
        <p:spPr>
          <a:xfrm>
            <a:off x="5212080" y="6044184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89"/>
          <p:cNvSpPr/>
          <p:nvPr/>
        </p:nvSpPr>
        <p:spPr>
          <a:xfrm>
            <a:off x="5257800" y="60990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850" dirty="0"/>
          </a:p>
        </p:txBody>
      </p:sp>
      <p:sp>
        <p:nvSpPr>
          <p:cNvPr id="94" name="Shape 90"/>
          <p:cNvSpPr/>
          <p:nvPr/>
        </p:nvSpPr>
        <p:spPr>
          <a:xfrm>
            <a:off x="6492240" y="6044184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1"/>
          <p:cNvSpPr/>
          <p:nvPr/>
        </p:nvSpPr>
        <p:spPr>
          <a:xfrm>
            <a:off x="6537960" y="60990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78/100</a:t>
            </a:r>
            <a:endParaRPr lang="en-US" sz="850" dirty="0"/>
          </a:p>
        </p:txBody>
      </p:sp>
      <p:sp>
        <p:nvSpPr>
          <p:cNvPr id="96" name="Shape 92"/>
          <p:cNvSpPr/>
          <p:nvPr/>
        </p:nvSpPr>
        <p:spPr>
          <a:xfrm>
            <a:off x="7680960" y="6044184"/>
            <a:ext cx="2377440" cy="310896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97" name="Text 93"/>
          <p:cNvSpPr/>
          <p:nvPr/>
        </p:nvSpPr>
        <p:spPr>
          <a:xfrm>
            <a:off x="7726680" y="609904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98" name="Shape 94"/>
          <p:cNvSpPr/>
          <p:nvPr/>
        </p:nvSpPr>
        <p:spPr>
          <a:xfrm>
            <a:off x="10058400" y="6044184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5"/>
          <p:cNvSpPr/>
          <p:nvPr/>
        </p:nvSpPr>
        <p:spPr>
          <a:xfrm>
            <a:off x="10104120" y="60990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branded traffic</a:t>
            </a:r>
            <a:endParaRPr lang="en-US" sz="850" dirty="0"/>
          </a:p>
        </p:txBody>
      </p:sp>
      <p:sp>
        <p:nvSpPr>
          <p:cNvPr id="100" name="Shape 96"/>
          <p:cNvSpPr/>
          <p:nvPr/>
        </p:nvSpPr>
        <p:spPr>
          <a:xfrm>
            <a:off x="2011680" y="6373368"/>
            <a:ext cx="201168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1" name="Text 97"/>
          <p:cNvSpPr/>
          <p:nvPr/>
        </p:nvSpPr>
        <p:spPr>
          <a:xfrm>
            <a:off x="2057400" y="6428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Paid</a:t>
            </a:r>
            <a:endParaRPr lang="en-US" sz="850" dirty="0"/>
          </a:p>
        </p:txBody>
      </p:sp>
      <p:sp>
        <p:nvSpPr>
          <p:cNvPr id="102" name="Shape 98"/>
          <p:cNvSpPr/>
          <p:nvPr/>
        </p:nvSpPr>
        <p:spPr>
          <a:xfrm>
            <a:off x="4023360" y="6373368"/>
            <a:ext cx="118872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3" name="Text 99"/>
          <p:cNvSpPr/>
          <p:nvPr/>
        </p:nvSpPr>
        <p:spPr>
          <a:xfrm>
            <a:off x="4069080" y="64282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850" dirty="0"/>
          </a:p>
        </p:txBody>
      </p:sp>
      <p:sp>
        <p:nvSpPr>
          <p:cNvPr id="104" name="Shape 100"/>
          <p:cNvSpPr/>
          <p:nvPr/>
        </p:nvSpPr>
        <p:spPr>
          <a:xfrm>
            <a:off x="5212080" y="6373368"/>
            <a:ext cx="128016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5" name="Text 101"/>
          <p:cNvSpPr/>
          <p:nvPr/>
        </p:nvSpPr>
        <p:spPr>
          <a:xfrm>
            <a:off x="5257800" y="64282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850" dirty="0"/>
          </a:p>
        </p:txBody>
      </p:sp>
      <p:sp>
        <p:nvSpPr>
          <p:cNvPr id="106" name="Shape 102"/>
          <p:cNvSpPr/>
          <p:nvPr/>
        </p:nvSpPr>
        <p:spPr>
          <a:xfrm>
            <a:off x="6492240" y="6373368"/>
            <a:ext cx="118872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7" name="Text 103"/>
          <p:cNvSpPr/>
          <p:nvPr/>
        </p:nvSpPr>
        <p:spPr>
          <a:xfrm>
            <a:off x="6537960" y="64282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44/100</a:t>
            </a:r>
            <a:endParaRPr lang="en-US" sz="850" dirty="0"/>
          </a:p>
        </p:txBody>
      </p:sp>
      <p:sp>
        <p:nvSpPr>
          <p:cNvPr id="108" name="Shape 104"/>
          <p:cNvSpPr/>
          <p:nvPr/>
        </p:nvSpPr>
        <p:spPr>
          <a:xfrm>
            <a:off x="7680960" y="6373368"/>
            <a:ext cx="237744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09" name="Text 105"/>
          <p:cNvSpPr/>
          <p:nvPr/>
        </p:nvSpPr>
        <p:spPr>
          <a:xfrm>
            <a:off x="7726680" y="64282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110" name="Shape 106"/>
          <p:cNvSpPr/>
          <p:nvPr/>
        </p:nvSpPr>
        <p:spPr>
          <a:xfrm>
            <a:off x="10058400" y="6373368"/>
            <a:ext cx="2011680" cy="31089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1" name="Text 107"/>
          <p:cNvSpPr/>
          <p:nvPr/>
        </p:nvSpPr>
        <p:spPr>
          <a:xfrm>
            <a:off x="10104120" y="6428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budget — poor ROI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146304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00584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" y="166420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Funnel Stages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" y="232257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Channels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2926080"/>
            <a:ext cx="1828800" cy="548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926080"/>
            <a:ext cx="54864" cy="548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" y="2980944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Trends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36393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30-Day Report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0" y="0"/>
            <a:ext cx="10332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96596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91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Funnel &amp; Conversion Performance  |  Apr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594360"/>
            <a:ext cx="10332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731520"/>
            <a:ext cx="6217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84832" y="841248"/>
            <a:ext cx="5888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Traffic → Lead Conversion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84832" y="1115568"/>
            <a:ext cx="588873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1938528" y="1005840"/>
          <a:ext cx="6181344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8275320" y="731520"/>
            <a:ext cx="3794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439912" y="841248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→ Customer Conversion 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439912" y="1115568"/>
            <a:ext cx="34655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24" name="Chart 1" descr=""/>
          <p:cNvGraphicFramePr/>
          <p:nvPr/>
        </p:nvGraphicFramePr>
        <p:xfrm>
          <a:off x="8293608" y="1005840"/>
          <a:ext cx="3758184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1920240" y="4005072"/>
            <a:ext cx="101498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2084832" y="4114800"/>
            <a:ext cx="9820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Performance Summary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084832" y="4389120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011680" y="4370832"/>
            <a:ext cx="146304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9" name="Text 25"/>
          <p:cNvSpPr/>
          <p:nvPr/>
        </p:nvSpPr>
        <p:spPr>
          <a:xfrm>
            <a:off x="2011680" y="43891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3474720" y="4370832"/>
            <a:ext cx="109728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1" name="Text 27"/>
          <p:cNvSpPr/>
          <p:nvPr/>
        </p:nvSpPr>
        <p:spPr>
          <a:xfrm>
            <a:off x="3474720" y="43891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4572000" y="4370832"/>
            <a:ext cx="100584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3" name="Text 29"/>
          <p:cNvSpPr/>
          <p:nvPr/>
        </p:nvSpPr>
        <p:spPr>
          <a:xfrm>
            <a:off x="4572000" y="43891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5577840" y="4370832"/>
            <a:ext cx="91440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5" name="Text 31"/>
          <p:cNvSpPr/>
          <p:nvPr/>
        </p:nvSpPr>
        <p:spPr>
          <a:xfrm>
            <a:off x="5577840" y="438912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MQLs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6492240" y="4370832"/>
            <a:ext cx="91440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7" name="Text 33"/>
          <p:cNvSpPr/>
          <p:nvPr/>
        </p:nvSpPr>
        <p:spPr>
          <a:xfrm>
            <a:off x="6492240" y="438912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7406640" y="4370832"/>
            <a:ext cx="100584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9" name="Text 35"/>
          <p:cNvSpPr/>
          <p:nvPr/>
        </p:nvSpPr>
        <p:spPr>
          <a:xfrm>
            <a:off x="7406640" y="43891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8412480" y="4370832"/>
            <a:ext cx="128016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41" name="Text 37"/>
          <p:cNvSpPr/>
          <p:nvPr/>
        </p:nvSpPr>
        <p:spPr>
          <a:xfrm>
            <a:off x="8412480" y="43891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Traffic→Lead %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9692640" y="4370832"/>
            <a:ext cx="128016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43" name="Text 39"/>
          <p:cNvSpPr/>
          <p:nvPr/>
        </p:nvSpPr>
        <p:spPr>
          <a:xfrm>
            <a:off x="9692640" y="43891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Lead→Cust %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10972800" y="4370832"/>
            <a:ext cx="91440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45" name="Text 41"/>
          <p:cNvSpPr/>
          <p:nvPr/>
        </p:nvSpPr>
        <p:spPr>
          <a:xfrm>
            <a:off x="10972800" y="438912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11887200" y="4370832"/>
            <a:ext cx="1097280" cy="274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47" name="Text 43"/>
          <p:cNvSpPr/>
          <p:nvPr/>
        </p:nvSpPr>
        <p:spPr>
          <a:xfrm>
            <a:off x="11887200" y="43891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Leads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2011680" y="4663440"/>
            <a:ext cx="14630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5"/>
          <p:cNvSpPr/>
          <p:nvPr/>
        </p:nvSpPr>
        <p:spPr>
          <a:xfrm>
            <a:off x="2048256" y="47548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3474720" y="4663440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7"/>
          <p:cNvSpPr/>
          <p:nvPr/>
        </p:nvSpPr>
        <p:spPr>
          <a:xfrm>
            <a:off x="3511296" y="47548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91,200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572000" y="4663440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49"/>
          <p:cNvSpPr/>
          <p:nvPr/>
        </p:nvSpPr>
        <p:spPr>
          <a:xfrm>
            <a:off x="4608576" y="475488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4,378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5577840" y="4663440"/>
            <a:ext cx="9144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1"/>
          <p:cNvSpPr/>
          <p:nvPr/>
        </p:nvSpPr>
        <p:spPr>
          <a:xfrm>
            <a:off x="5614416" y="47548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1,094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6492240" y="4663440"/>
            <a:ext cx="9144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3"/>
          <p:cNvSpPr/>
          <p:nvPr/>
        </p:nvSpPr>
        <p:spPr>
          <a:xfrm>
            <a:off x="6528816" y="47548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7406640" y="4663440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5"/>
          <p:cNvSpPr/>
          <p:nvPr/>
        </p:nvSpPr>
        <p:spPr>
          <a:xfrm>
            <a:off x="7443216" y="475488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8412480" y="4663440"/>
            <a:ext cx="1280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7"/>
          <p:cNvSpPr/>
          <p:nvPr/>
        </p:nvSpPr>
        <p:spPr>
          <a:xfrm>
            <a:off x="8449056" y="475488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4.80%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9692640" y="4663440"/>
            <a:ext cx="1280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59"/>
          <p:cNvSpPr/>
          <p:nvPr/>
        </p:nvSpPr>
        <p:spPr>
          <a:xfrm>
            <a:off x="9729216" y="475488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1.40%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10972800" y="4663440"/>
            <a:ext cx="9144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1"/>
          <p:cNvSpPr/>
          <p:nvPr/>
        </p:nvSpPr>
        <p:spPr>
          <a:xfrm>
            <a:off x="11009376" y="47548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0.068%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11887200" y="4663440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3"/>
          <p:cNvSpPr/>
          <p:nvPr/>
        </p:nvSpPr>
        <p:spPr>
          <a:xfrm>
            <a:off x="11923776" y="47548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68" name="Shape 64"/>
          <p:cNvSpPr/>
          <p:nvPr/>
        </p:nvSpPr>
        <p:spPr>
          <a:xfrm>
            <a:off x="2011680" y="5120640"/>
            <a:ext cx="146304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9" name="Text 65"/>
          <p:cNvSpPr/>
          <p:nvPr/>
        </p:nvSpPr>
        <p:spPr>
          <a:xfrm>
            <a:off x="2048256" y="52120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850" dirty="0"/>
          </a:p>
        </p:txBody>
      </p:sp>
      <p:sp>
        <p:nvSpPr>
          <p:cNvPr id="70" name="Shape 66"/>
          <p:cNvSpPr/>
          <p:nvPr/>
        </p:nvSpPr>
        <p:spPr>
          <a:xfrm>
            <a:off x="3474720" y="5120640"/>
            <a:ext cx="109728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1" name="Text 67"/>
          <p:cNvSpPr/>
          <p:nvPr/>
        </p:nvSpPr>
        <p:spPr>
          <a:xfrm>
            <a:off x="3511296" y="52120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98,500</a:t>
            </a:r>
            <a:endParaRPr lang="en-US" sz="850" dirty="0"/>
          </a:p>
        </p:txBody>
      </p:sp>
      <p:sp>
        <p:nvSpPr>
          <p:cNvPr id="72" name="Shape 68"/>
          <p:cNvSpPr/>
          <p:nvPr/>
        </p:nvSpPr>
        <p:spPr>
          <a:xfrm>
            <a:off x="4572000" y="5120640"/>
            <a:ext cx="100584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3" name="Text 69"/>
          <p:cNvSpPr/>
          <p:nvPr/>
        </p:nvSpPr>
        <p:spPr>
          <a:xfrm>
            <a:off x="4608576" y="521208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6,009</a:t>
            </a:r>
            <a:endParaRPr lang="en-US" sz="850" dirty="0"/>
          </a:p>
        </p:txBody>
      </p:sp>
      <p:sp>
        <p:nvSpPr>
          <p:cNvPr id="74" name="Shape 70"/>
          <p:cNvSpPr/>
          <p:nvPr/>
        </p:nvSpPr>
        <p:spPr>
          <a:xfrm>
            <a:off x="5577840" y="5120640"/>
            <a:ext cx="91440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5" name="Text 71"/>
          <p:cNvSpPr/>
          <p:nvPr/>
        </p:nvSpPr>
        <p:spPr>
          <a:xfrm>
            <a:off x="5614416" y="52120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1,502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6492240" y="5120640"/>
            <a:ext cx="91440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7" name="Text 73"/>
          <p:cNvSpPr/>
          <p:nvPr/>
        </p:nvSpPr>
        <p:spPr>
          <a:xfrm>
            <a:off x="6528816" y="52120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7406640" y="5120640"/>
            <a:ext cx="100584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9" name="Text 75"/>
          <p:cNvSpPr/>
          <p:nvPr/>
        </p:nvSpPr>
        <p:spPr>
          <a:xfrm>
            <a:off x="7443216" y="521208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8412480" y="5120640"/>
            <a:ext cx="128016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1" name="Text 77"/>
          <p:cNvSpPr/>
          <p:nvPr/>
        </p:nvSpPr>
        <p:spPr>
          <a:xfrm>
            <a:off x="8449056" y="521208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6.10%</a:t>
            </a:r>
            <a:endParaRPr lang="en-US" sz="850" dirty="0"/>
          </a:p>
        </p:txBody>
      </p:sp>
      <p:sp>
        <p:nvSpPr>
          <p:cNvPr id="82" name="Shape 78"/>
          <p:cNvSpPr/>
          <p:nvPr/>
        </p:nvSpPr>
        <p:spPr>
          <a:xfrm>
            <a:off x="9692640" y="5120640"/>
            <a:ext cx="128016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3" name="Text 79"/>
          <p:cNvSpPr/>
          <p:nvPr/>
        </p:nvSpPr>
        <p:spPr>
          <a:xfrm>
            <a:off x="9729216" y="521208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1.50%</a:t>
            </a:r>
            <a:endParaRPr lang="en-US" sz="850" dirty="0"/>
          </a:p>
        </p:txBody>
      </p:sp>
      <p:sp>
        <p:nvSpPr>
          <p:cNvPr id="84" name="Shape 80"/>
          <p:cNvSpPr/>
          <p:nvPr/>
        </p:nvSpPr>
        <p:spPr>
          <a:xfrm>
            <a:off x="10972800" y="5120640"/>
            <a:ext cx="91440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5" name="Text 81"/>
          <p:cNvSpPr/>
          <p:nvPr/>
        </p:nvSpPr>
        <p:spPr>
          <a:xfrm>
            <a:off x="11009376" y="52120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0.091%</a:t>
            </a:r>
            <a:endParaRPr lang="en-US" sz="850" dirty="0"/>
          </a:p>
        </p:txBody>
      </p:sp>
      <p:sp>
        <p:nvSpPr>
          <p:cNvPr id="86" name="Shape 82"/>
          <p:cNvSpPr/>
          <p:nvPr/>
        </p:nvSpPr>
        <p:spPr>
          <a:xfrm>
            <a:off x="11887200" y="5120640"/>
            <a:ext cx="1097280" cy="42062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7" name="Text 83"/>
          <p:cNvSpPr/>
          <p:nvPr/>
        </p:nvSpPr>
        <p:spPr>
          <a:xfrm>
            <a:off x="11923776" y="52120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+37.3%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2011680" y="5577840"/>
            <a:ext cx="14630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5"/>
          <p:cNvSpPr/>
          <p:nvPr/>
        </p:nvSpPr>
        <p:spPr>
          <a:xfrm>
            <a:off x="2048256" y="56692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3474720" y="5577840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7"/>
          <p:cNvSpPr/>
          <p:nvPr/>
        </p:nvSpPr>
        <p:spPr>
          <a:xfrm>
            <a:off x="3511296" y="56692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104,200</a:t>
            </a:r>
            <a:endParaRPr lang="en-US" sz="850" dirty="0"/>
          </a:p>
        </p:txBody>
      </p:sp>
      <p:sp>
        <p:nvSpPr>
          <p:cNvPr id="92" name="Shape 88"/>
          <p:cNvSpPr/>
          <p:nvPr/>
        </p:nvSpPr>
        <p:spPr>
          <a:xfrm>
            <a:off x="4572000" y="5577840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89"/>
          <p:cNvSpPr/>
          <p:nvPr/>
        </p:nvSpPr>
        <p:spPr>
          <a:xfrm>
            <a:off x="4608576" y="566928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5,418</a:t>
            </a:r>
            <a:endParaRPr lang="en-US" sz="850" dirty="0"/>
          </a:p>
        </p:txBody>
      </p:sp>
      <p:sp>
        <p:nvSpPr>
          <p:cNvPr id="94" name="Shape 90"/>
          <p:cNvSpPr/>
          <p:nvPr/>
        </p:nvSpPr>
        <p:spPr>
          <a:xfrm>
            <a:off x="5577840" y="5577840"/>
            <a:ext cx="9144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1"/>
          <p:cNvSpPr/>
          <p:nvPr/>
        </p:nvSpPr>
        <p:spPr>
          <a:xfrm>
            <a:off x="5614416" y="56692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1,355</a:t>
            </a:r>
            <a:endParaRPr lang="en-US" sz="850" dirty="0"/>
          </a:p>
        </p:txBody>
      </p:sp>
      <p:sp>
        <p:nvSpPr>
          <p:cNvPr id="96" name="Shape 92"/>
          <p:cNvSpPr/>
          <p:nvPr/>
        </p:nvSpPr>
        <p:spPr>
          <a:xfrm>
            <a:off x="6492240" y="5577840"/>
            <a:ext cx="9144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3"/>
          <p:cNvSpPr/>
          <p:nvPr/>
        </p:nvSpPr>
        <p:spPr>
          <a:xfrm>
            <a:off x="6528816" y="56692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</a:t>
            </a:r>
            <a:endParaRPr lang="en-US" sz="850" dirty="0"/>
          </a:p>
        </p:txBody>
      </p:sp>
      <p:sp>
        <p:nvSpPr>
          <p:cNvPr id="98" name="Shape 94"/>
          <p:cNvSpPr/>
          <p:nvPr/>
        </p:nvSpPr>
        <p:spPr>
          <a:xfrm>
            <a:off x="7406640" y="5577840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5"/>
          <p:cNvSpPr/>
          <p:nvPr/>
        </p:nvSpPr>
        <p:spPr>
          <a:xfrm>
            <a:off x="7443216" y="566928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850" dirty="0"/>
          </a:p>
        </p:txBody>
      </p:sp>
      <p:sp>
        <p:nvSpPr>
          <p:cNvPr id="100" name="Shape 96"/>
          <p:cNvSpPr/>
          <p:nvPr/>
        </p:nvSpPr>
        <p:spPr>
          <a:xfrm>
            <a:off x="8412480" y="5577840"/>
            <a:ext cx="1280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7"/>
          <p:cNvSpPr/>
          <p:nvPr/>
        </p:nvSpPr>
        <p:spPr>
          <a:xfrm>
            <a:off x="8449056" y="566928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5.20%</a:t>
            </a:r>
            <a:endParaRPr lang="en-US" sz="850" dirty="0"/>
          </a:p>
        </p:txBody>
      </p:sp>
      <p:sp>
        <p:nvSpPr>
          <p:cNvPr id="102" name="Shape 98"/>
          <p:cNvSpPr/>
          <p:nvPr/>
        </p:nvSpPr>
        <p:spPr>
          <a:xfrm>
            <a:off x="9692640" y="5577840"/>
            <a:ext cx="1280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99"/>
          <p:cNvSpPr/>
          <p:nvPr/>
        </p:nvSpPr>
        <p:spPr>
          <a:xfrm>
            <a:off x="9729216" y="566928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1.90%</a:t>
            </a:r>
            <a:endParaRPr lang="en-US" sz="850" dirty="0"/>
          </a:p>
        </p:txBody>
      </p:sp>
      <p:sp>
        <p:nvSpPr>
          <p:cNvPr id="104" name="Shape 100"/>
          <p:cNvSpPr/>
          <p:nvPr/>
        </p:nvSpPr>
        <p:spPr>
          <a:xfrm>
            <a:off x="10972800" y="5577840"/>
            <a:ext cx="9144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1"/>
          <p:cNvSpPr/>
          <p:nvPr/>
        </p:nvSpPr>
        <p:spPr>
          <a:xfrm>
            <a:off x="11009376" y="56692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0.099%</a:t>
            </a:r>
            <a:endParaRPr lang="en-US" sz="850" dirty="0"/>
          </a:p>
        </p:txBody>
      </p:sp>
      <p:sp>
        <p:nvSpPr>
          <p:cNvPr id="106" name="Shape 102"/>
          <p:cNvSpPr/>
          <p:nvPr/>
        </p:nvSpPr>
        <p:spPr>
          <a:xfrm>
            <a:off x="11887200" y="5577840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3"/>
          <p:cNvSpPr/>
          <p:nvPr/>
        </p:nvSpPr>
        <p:spPr>
          <a:xfrm>
            <a:off x="11923776" y="56692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-9.8%</a:t>
            </a:r>
            <a:endParaRPr lang="en-US" sz="850" dirty="0"/>
          </a:p>
        </p:txBody>
      </p:sp>
      <p:sp>
        <p:nvSpPr>
          <p:cNvPr id="108" name="Shape 104"/>
          <p:cNvSpPr/>
          <p:nvPr/>
        </p:nvSpPr>
        <p:spPr>
          <a:xfrm>
            <a:off x="2011680" y="6035040"/>
            <a:ext cx="146304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9" name="Text 105"/>
          <p:cNvSpPr/>
          <p:nvPr/>
        </p:nvSpPr>
        <p:spPr>
          <a:xfrm>
            <a:off x="2048256" y="61264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850" dirty="0"/>
          </a:p>
        </p:txBody>
      </p:sp>
      <p:sp>
        <p:nvSpPr>
          <p:cNvPr id="110" name="Shape 106"/>
          <p:cNvSpPr/>
          <p:nvPr/>
        </p:nvSpPr>
        <p:spPr>
          <a:xfrm>
            <a:off x="3474720" y="6035040"/>
            <a:ext cx="109728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1" name="Text 107"/>
          <p:cNvSpPr/>
          <p:nvPr/>
        </p:nvSpPr>
        <p:spPr>
          <a:xfrm>
            <a:off x="3511296" y="61264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124,500</a:t>
            </a:r>
            <a:endParaRPr lang="en-US" sz="850" dirty="0"/>
          </a:p>
        </p:txBody>
      </p:sp>
      <p:sp>
        <p:nvSpPr>
          <p:cNvPr id="112" name="Shape 108"/>
          <p:cNvSpPr/>
          <p:nvPr/>
        </p:nvSpPr>
        <p:spPr>
          <a:xfrm>
            <a:off x="4572000" y="6035040"/>
            <a:ext cx="100584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3" name="Text 109"/>
          <p:cNvSpPr/>
          <p:nvPr/>
        </p:nvSpPr>
        <p:spPr>
          <a:xfrm>
            <a:off x="4608576" y="612648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6,842</a:t>
            </a:r>
            <a:endParaRPr lang="en-US" sz="850" dirty="0"/>
          </a:p>
        </p:txBody>
      </p:sp>
      <p:sp>
        <p:nvSpPr>
          <p:cNvPr id="114" name="Shape 110"/>
          <p:cNvSpPr/>
          <p:nvPr/>
        </p:nvSpPr>
        <p:spPr>
          <a:xfrm>
            <a:off x="5577840" y="6035040"/>
            <a:ext cx="91440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5" name="Text 111"/>
          <p:cNvSpPr/>
          <p:nvPr/>
        </p:nvSpPr>
        <p:spPr>
          <a:xfrm>
            <a:off x="5614416" y="61264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1,710</a:t>
            </a:r>
            <a:endParaRPr lang="en-US" sz="850" dirty="0"/>
          </a:p>
        </p:txBody>
      </p:sp>
      <p:sp>
        <p:nvSpPr>
          <p:cNvPr id="116" name="Shape 112"/>
          <p:cNvSpPr/>
          <p:nvPr/>
        </p:nvSpPr>
        <p:spPr>
          <a:xfrm>
            <a:off x="6492240" y="6035040"/>
            <a:ext cx="91440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7" name="Text 113"/>
          <p:cNvSpPr/>
          <p:nvPr/>
        </p:nvSpPr>
        <p:spPr>
          <a:xfrm>
            <a:off x="6528816" y="61264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684</a:t>
            </a:r>
            <a:endParaRPr lang="en-US" sz="850" dirty="0"/>
          </a:p>
        </p:txBody>
      </p:sp>
      <p:sp>
        <p:nvSpPr>
          <p:cNvPr id="118" name="Shape 114"/>
          <p:cNvSpPr/>
          <p:nvPr/>
        </p:nvSpPr>
        <p:spPr>
          <a:xfrm>
            <a:off x="7406640" y="6035040"/>
            <a:ext cx="100584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9" name="Text 115"/>
          <p:cNvSpPr/>
          <p:nvPr/>
        </p:nvSpPr>
        <p:spPr>
          <a:xfrm>
            <a:off x="7443216" y="612648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850" dirty="0"/>
          </a:p>
        </p:txBody>
      </p:sp>
      <p:sp>
        <p:nvSpPr>
          <p:cNvPr id="120" name="Shape 116"/>
          <p:cNvSpPr/>
          <p:nvPr/>
        </p:nvSpPr>
        <p:spPr>
          <a:xfrm>
            <a:off x="8412480" y="6035040"/>
            <a:ext cx="128016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1" name="Text 117"/>
          <p:cNvSpPr/>
          <p:nvPr/>
        </p:nvSpPr>
        <p:spPr>
          <a:xfrm>
            <a:off x="8449056" y="612648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5.49%</a:t>
            </a:r>
            <a:endParaRPr lang="en-US" sz="850" dirty="0"/>
          </a:p>
        </p:txBody>
      </p:sp>
      <p:sp>
        <p:nvSpPr>
          <p:cNvPr id="122" name="Shape 118"/>
          <p:cNvSpPr/>
          <p:nvPr/>
        </p:nvSpPr>
        <p:spPr>
          <a:xfrm>
            <a:off x="9692640" y="6035040"/>
            <a:ext cx="128016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3" name="Text 119"/>
          <p:cNvSpPr/>
          <p:nvPr/>
        </p:nvSpPr>
        <p:spPr>
          <a:xfrm>
            <a:off x="9729216" y="612648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1.70%</a:t>
            </a:r>
            <a:endParaRPr lang="en-US" sz="850" dirty="0"/>
          </a:p>
        </p:txBody>
      </p:sp>
      <p:sp>
        <p:nvSpPr>
          <p:cNvPr id="124" name="Shape 120"/>
          <p:cNvSpPr/>
          <p:nvPr/>
        </p:nvSpPr>
        <p:spPr>
          <a:xfrm>
            <a:off x="10972800" y="6035040"/>
            <a:ext cx="91440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5" name="Text 121"/>
          <p:cNvSpPr/>
          <p:nvPr/>
        </p:nvSpPr>
        <p:spPr>
          <a:xfrm>
            <a:off x="11009376" y="612648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0.094%</a:t>
            </a:r>
            <a:endParaRPr lang="en-US" sz="850" dirty="0"/>
          </a:p>
        </p:txBody>
      </p:sp>
      <p:sp>
        <p:nvSpPr>
          <p:cNvPr id="126" name="Shape 122"/>
          <p:cNvSpPr/>
          <p:nvPr/>
        </p:nvSpPr>
        <p:spPr>
          <a:xfrm>
            <a:off x="11887200" y="6035040"/>
            <a:ext cx="109728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7" name="Text 123"/>
          <p:cNvSpPr/>
          <p:nvPr/>
        </p:nvSpPr>
        <p:spPr>
          <a:xfrm>
            <a:off x="11923776" y="61264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+26.3%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146304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00584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" y="166420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Funnel Stages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" y="232257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Channels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" y="2980944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Trends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3584448"/>
            <a:ext cx="1828800" cy="548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584448"/>
            <a:ext cx="54864" cy="548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" y="36393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30-Day Report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0" y="0"/>
            <a:ext cx="10332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96596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91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Funnel &amp; Conversion Performance  |  Apr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594360"/>
            <a:ext cx="10332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749808"/>
            <a:ext cx="4937760" cy="1865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65960" y="749808"/>
            <a:ext cx="64008" cy="18653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841248"/>
            <a:ext cx="1143000" cy="25603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85953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03120" y="84124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8595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Visitor → Lead Gap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1207008"/>
            <a:ext cx="4663440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126187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88920" y="1261872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5.5% convert — 2.5pp below benchmark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14996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88920" y="149961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lead magnets to top-traffic pages; A/B test 3 CTA variants; reduce form fields to 3 max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103120" y="2066544"/>
            <a:ext cx="4645152" cy="40233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21396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92424" y="2139696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+1,800 leads/month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04888" y="749808"/>
            <a:ext cx="4937760" cy="1865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04888" y="749808"/>
            <a:ext cx="64008" cy="18653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08208" y="841248"/>
            <a:ext cx="1143000" cy="25603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4" name="Text 32"/>
          <p:cNvSpPr/>
          <p:nvPr/>
        </p:nvSpPr>
        <p:spPr>
          <a:xfrm>
            <a:off x="10808208" y="85953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42048" y="84124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07808" y="8595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MQL → SQL Leakage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42048" y="1207008"/>
            <a:ext cx="4663440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126187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27848" y="1261872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MQLs fail to become SQLs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242048" y="14996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27848" y="149961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sales-marketing scoring audit; remove content-only download signals from MQL criteria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42048" y="2066544"/>
            <a:ext cx="4645152" cy="40233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3" name="Text 41"/>
          <p:cNvSpPr/>
          <p:nvPr/>
        </p:nvSpPr>
        <p:spPr>
          <a:xfrm>
            <a:off x="7333488" y="21396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531352" y="2139696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+20% SQL volume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965960" y="2734056"/>
            <a:ext cx="4937760" cy="1865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965960" y="2734056"/>
            <a:ext cx="64008" cy="18653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7" name="Shape 45"/>
          <p:cNvSpPr/>
          <p:nvPr/>
        </p:nvSpPr>
        <p:spPr>
          <a:xfrm>
            <a:off x="5669280" y="2825496"/>
            <a:ext cx="1143000" cy="25603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8" name="Text 46"/>
          <p:cNvSpPr/>
          <p:nvPr/>
        </p:nvSpPr>
        <p:spPr>
          <a:xfrm>
            <a:off x="5669280" y="284378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103120" y="282549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468880" y="28437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 Social Paid Budget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03120" y="3191256"/>
            <a:ext cx="4663440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03120" y="32461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788920" y="3246120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 conv vs 11.2% Email — 4x cost/customer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103120" y="34838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88920" y="3483864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30% of Social Paid budget to Email nurture and Referral incentive program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103120" y="4050792"/>
            <a:ext cx="4645152" cy="40233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7" name="Text 55"/>
          <p:cNvSpPr/>
          <p:nvPr/>
        </p:nvSpPr>
        <p:spPr>
          <a:xfrm>
            <a:off x="2194560" y="41239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392424" y="4123944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-20% blended CAC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04888" y="2734056"/>
            <a:ext cx="4937760" cy="1865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104888" y="2734056"/>
            <a:ext cx="64008" cy="18653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0808208" y="2825496"/>
            <a:ext cx="1143000" cy="256032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62" name="Text 60"/>
          <p:cNvSpPr/>
          <p:nvPr/>
        </p:nvSpPr>
        <p:spPr>
          <a:xfrm>
            <a:off x="10808208" y="284378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242048" y="282549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607808" y="28437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 Late-Stage Deals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42048" y="3191256"/>
            <a:ext cx="4663440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42048" y="32461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927848" y="3246120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 opportunity-to-close loss rate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242048" y="34838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27848" y="3483864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24hr demo follow-up; introduce time-limited trial offers for stalled opportunities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242048" y="4050792"/>
            <a:ext cx="4645152" cy="402336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71" name="Text 69"/>
          <p:cNvSpPr/>
          <p:nvPr/>
        </p:nvSpPr>
        <p:spPr>
          <a:xfrm>
            <a:off x="7333488" y="41239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531352" y="4123944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+10pp close rate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965960" y="4718304"/>
            <a:ext cx="4937760" cy="1865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965960" y="4718304"/>
            <a:ext cx="64008" cy="18653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5" name="Shape 73"/>
          <p:cNvSpPr/>
          <p:nvPr/>
        </p:nvSpPr>
        <p:spPr>
          <a:xfrm>
            <a:off x="5669280" y="4809744"/>
            <a:ext cx="1143000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6" name="Text 74"/>
          <p:cNvSpPr/>
          <p:nvPr/>
        </p:nvSpPr>
        <p:spPr>
          <a:xfrm>
            <a:off x="5669280" y="482803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103120" y="480974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2468880" y="4828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the Referral Channel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103120" y="5175504"/>
            <a:ext cx="4663440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03120" y="523036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2788920" y="5230368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 rate (14.3%) but lowest volume (310 leads)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103120" y="5468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788920" y="5468112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structured referral program with CRM tracking and customer incentives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103120" y="6035040"/>
            <a:ext cx="4645152" cy="402336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85" name="Text 83"/>
          <p:cNvSpPr/>
          <p:nvPr/>
        </p:nvSpPr>
        <p:spPr>
          <a:xfrm>
            <a:off x="2194560" y="61081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392424" y="6108192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+200 leads/month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104888" y="4718304"/>
            <a:ext cx="4937760" cy="1865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104888" y="4718304"/>
            <a:ext cx="64008" cy="18653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9" name="Shape 87"/>
          <p:cNvSpPr/>
          <p:nvPr/>
        </p:nvSpPr>
        <p:spPr>
          <a:xfrm>
            <a:off x="10808208" y="4809744"/>
            <a:ext cx="1143000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0" name="Text 88"/>
          <p:cNvSpPr/>
          <p:nvPr/>
        </p:nvSpPr>
        <p:spPr>
          <a:xfrm>
            <a:off x="10808208" y="482803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242048" y="480974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7607808" y="4828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Deepen Email Nurture Sequences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7242048" y="5175504"/>
            <a:ext cx="4663440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42048" y="523036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927848" y="5230368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 (93/100) but limited reach (980 leads)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242048" y="5468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927848" y="5468112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gated content for email capture; add 6-touch intent-segmented drip sequences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242048" y="6035040"/>
            <a:ext cx="4645152" cy="402336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99" name="Text 97"/>
          <p:cNvSpPr/>
          <p:nvPr/>
        </p:nvSpPr>
        <p:spPr>
          <a:xfrm>
            <a:off x="7333488" y="61081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531352" y="6108192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+40% email leads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Funnel &amp; Conversion Performance Dashboard</dc:title>
  <dc:subject>PptxGenJS Presentation</dc:subject>
  <dc:creator>Marketing Analytics Team</dc:creator>
  <cp:lastModifiedBy>Marketing Analytics Team</cp:lastModifiedBy>
  <cp:revision>1</cp:revision>
  <dcterms:created xsi:type="dcterms:W3CDTF">2026-04-18T13:35:17Z</dcterms:created>
  <dcterms:modified xsi:type="dcterms:W3CDTF">2026-04-18T13:35:17Z</dcterms:modified>
</cp:coreProperties>
</file>